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OH8eT8mZeaMtiD/yZUP++Hj2t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AB418D-E1B1-48A6-AA8B-B69CE4B82CB8}">
  <a:tblStyle styleId="{6BAB418D-E1B1-48A6-AA8B-B69CE4B82C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f9e8779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c8f9e8779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90073f6e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c90073f6e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8255de6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e48255de6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90073f6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c90073f6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8f9e8779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c8f9e8779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9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1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4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5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1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8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60261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pt-BR" sz="2800">
                <a:solidFill>
                  <a:srgbClr val="000000"/>
                </a:solidFill>
              </a:rPr>
              <a:t>Apache Pulsar</a:t>
            </a:r>
            <a:br>
              <a:rPr lang="pt-BR" sz="2800">
                <a:solidFill>
                  <a:srgbClr val="000000"/>
                </a:solidFill>
              </a:rPr>
            </a:br>
            <a:br>
              <a:rPr lang="pt-BR" sz="2800">
                <a:solidFill>
                  <a:srgbClr val="000000"/>
                </a:solidFill>
              </a:rPr>
            </a:br>
            <a:endParaRPr sz="2200">
              <a:solidFill>
                <a:srgbClr val="000000"/>
              </a:solidFill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698175" y="4610725"/>
            <a:ext cx="13797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Alex Carvalho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8f9e87797_0_7"/>
          <p:cNvSpPr txBox="1"/>
          <p:nvPr>
            <p:ph type="title"/>
          </p:nvPr>
        </p:nvSpPr>
        <p:spPr>
          <a:xfrm>
            <a:off x="727650" y="5923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/>
              <a:t>Architecture</a:t>
            </a:r>
            <a:endParaRPr/>
          </a:p>
        </p:txBody>
      </p:sp>
      <p:pic>
        <p:nvPicPr>
          <p:cNvPr id="93" name="Google Shape;93;g3c8f9e87797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875" y="1349525"/>
            <a:ext cx="4786312" cy="371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90073f6ec_0_5"/>
          <p:cNvSpPr txBox="1"/>
          <p:nvPr>
            <p:ph type="title"/>
          </p:nvPr>
        </p:nvSpPr>
        <p:spPr>
          <a:xfrm>
            <a:off x="727650" y="5923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/>
              <a:t>Comparisons</a:t>
            </a:r>
            <a:endParaRPr/>
          </a:p>
        </p:txBody>
      </p:sp>
      <p:graphicFrame>
        <p:nvGraphicFramePr>
          <p:cNvPr id="99" name="Google Shape;99;g3c90073f6ec_0_5"/>
          <p:cNvGraphicFramePr/>
          <p:nvPr/>
        </p:nvGraphicFramePr>
        <p:xfrm>
          <a:off x="44465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{6BAB418D-E1B1-48A6-AA8B-B69CE4B82CB8}</a:tableStyleId>
              </a:tblPr>
              <a:tblGrid>
                <a:gridCol w="2614950"/>
                <a:gridCol w="2614950"/>
                <a:gridCol w="3024825"/>
              </a:tblGrid>
              <a:tr h="42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/>
                        <a:t>Feature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/>
                        <a:t>Apache Kafka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/>
                        <a:t>Apache Pulsar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Programming Languages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17 supported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highlight>
                            <a:srgbClr val="FFFFFF"/>
                          </a:highlight>
                        </a:rPr>
                        <a:t>6 supported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Stack Overflow Questions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0C0D0E"/>
                          </a:solidFill>
                          <a:highlight>
                            <a:srgbClr val="FFFFFF"/>
                          </a:highlight>
                        </a:rPr>
                        <a:t>33,281 questions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358 questions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Connectors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400+ open 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~20 connectors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Multi-tenancy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Limited support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Native, built-in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Geo-replication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Needs MirrorMaker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Built-in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Schema Registry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Separate component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Built-in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Message consumption 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Push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48255de6c_0_10"/>
          <p:cNvSpPr txBox="1"/>
          <p:nvPr>
            <p:ph type="title"/>
          </p:nvPr>
        </p:nvSpPr>
        <p:spPr>
          <a:xfrm>
            <a:off x="727650" y="5923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/>
              <a:t>Benchmark</a:t>
            </a:r>
            <a:endParaRPr/>
          </a:p>
        </p:txBody>
      </p:sp>
      <p:sp>
        <p:nvSpPr>
          <p:cNvPr id="105" name="Google Shape;105;g3e48255de6c_0_10"/>
          <p:cNvSpPr txBox="1"/>
          <p:nvPr>
            <p:ph idx="1" type="body"/>
          </p:nvPr>
        </p:nvSpPr>
        <p:spPr>
          <a:xfrm>
            <a:off x="727650" y="1441200"/>
            <a:ext cx="7902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b="1" lang="pt-BR" sz="1500"/>
              <a:t>Do </a:t>
            </a:r>
            <a:r>
              <a:rPr b="1" lang="pt-BR" sz="1500"/>
              <a:t>yourself.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90073f6ec_0_0"/>
          <p:cNvSpPr txBox="1"/>
          <p:nvPr>
            <p:ph type="title"/>
          </p:nvPr>
        </p:nvSpPr>
        <p:spPr>
          <a:xfrm>
            <a:off x="727650" y="5923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/>
              <a:t>Trade-offs</a:t>
            </a:r>
            <a:endParaRPr/>
          </a:p>
        </p:txBody>
      </p:sp>
      <p:sp>
        <p:nvSpPr>
          <p:cNvPr id="111" name="Google Shape;111;g3c90073f6ec_0_0"/>
          <p:cNvSpPr txBox="1"/>
          <p:nvPr>
            <p:ph idx="1" type="body"/>
          </p:nvPr>
        </p:nvSpPr>
        <p:spPr>
          <a:xfrm>
            <a:off x="727650" y="1441200"/>
            <a:ext cx="3983100" cy="3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b="1" lang="pt-BR" sz="1500"/>
              <a:t>✅ Pros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Decoupled Architecture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Native multi-tenancy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Built-in tired-storage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Unified</a:t>
            </a:r>
            <a:r>
              <a:rPr lang="pt-BR" sz="1500"/>
              <a:t> Queue and Streaming models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Built-in geo-replication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Pulsar Functions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Schema integrated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Persistent and in memory topics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12" name="Google Shape;112;g3c90073f6ec_0_0"/>
          <p:cNvSpPr txBox="1"/>
          <p:nvPr>
            <p:ph idx="1" type="body"/>
          </p:nvPr>
        </p:nvSpPr>
        <p:spPr>
          <a:xfrm>
            <a:off x="4572000" y="1441200"/>
            <a:ext cx="4050300" cy="29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b="1" lang="pt-BR" sz="1500"/>
              <a:t>❌ Cons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Operational Complexity (Broker, </a:t>
            </a:r>
            <a:r>
              <a:rPr lang="pt-BR" sz="1500"/>
              <a:t>Bookkeeper</a:t>
            </a:r>
            <a:r>
              <a:rPr lang="pt-BR" sz="1500"/>
              <a:t>, ZooKeeper)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Small ecosystem compared </a:t>
            </a:r>
            <a:r>
              <a:rPr lang="pt-BR" sz="1500"/>
              <a:t>with</a:t>
            </a:r>
            <a:r>
              <a:rPr lang="pt-BR" sz="1500"/>
              <a:t> Kafka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Higher latency baseline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t-BR" sz="1500"/>
              <a:t>Few cloud offers (</a:t>
            </a:r>
            <a:r>
              <a:rPr lang="pt-BR" sz="1500"/>
              <a:t>StreamNative, </a:t>
            </a:r>
            <a:r>
              <a:rPr lang="pt-BR" sz="1500"/>
              <a:t>IBM Astra Streaming,)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8f9e87797_0_43"/>
          <p:cNvSpPr txBox="1"/>
          <p:nvPr>
            <p:ph type="title"/>
          </p:nvPr>
        </p:nvSpPr>
        <p:spPr>
          <a:xfrm>
            <a:off x="727650" y="5923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pic>
        <p:nvPicPr>
          <p:cNvPr id="118" name="Google Shape;118;g3c8f9e87797_0_43" title="demo-tim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6500" y="1596875"/>
            <a:ext cx="3623550" cy="337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7" title="Gemini_Generated_Image_hx4cbthx4cbthx4c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6000" y="1315700"/>
            <a:ext cx="5952000" cy="36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